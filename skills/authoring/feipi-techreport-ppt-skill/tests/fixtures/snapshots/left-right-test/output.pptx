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6903720" cy="5669280"/>
          </a:xfrm>
          <a:prstGeom prst="roundRect">
            <a:avLst>
              <a:gd name="adj" fmla="val 2581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523" y="878190"/>
            <a:ext cx="6575633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64" b="1" dirty="0">
                <a:solidFill>
                  <a:srgbClr val="1E3A8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自研高性能 EVM 链</a:t>
            </a:r>
            <a:endParaRPr lang="en-US" sz="1564" dirty="0"/>
          </a:p>
        </p:txBody>
      </p:sp>
      <p:sp>
        <p:nvSpPr>
          <p:cNvPr id="4" name="Text 2"/>
          <p:cNvSpPr/>
          <p:nvPr/>
        </p:nvSpPr>
        <p:spPr>
          <a:xfrm>
            <a:off x="575523" y="1195995"/>
            <a:ext cx="6575633" cy="18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并行共识 + Reth 执行层 + 金融原生能力</a:t>
            </a:r>
            <a:endParaRPr lang="en-US" sz="1058" dirty="0"/>
          </a:p>
        </p:txBody>
      </p:sp>
      <p:sp>
        <p:nvSpPr>
          <p:cNvPr id="5" name="Text 3"/>
          <p:cNvSpPr/>
          <p:nvPr/>
        </p:nvSpPr>
        <p:spPr>
          <a:xfrm>
            <a:off x="575523" y="1452687"/>
            <a:ext cx="6575633" cy="483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Simplex 类并行共识</a:t>
            </a:r>
            <a:pPr algn="l" indent="0" marL="0">
              <a:buNone/>
            </a:pPr>
            <a:endParaRPr lang="en-US" sz="1058" dirty="0"/>
          </a:p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Engine API 对接</a:t>
            </a:r>
            <a:endParaRPr lang="en-US" sz="1058" dirty="0"/>
          </a:p>
          <a:p>
            <a:pPr algn="l" indent="0" marL="0">
              <a:buNone/>
            </a:pPr>
            <a:endParaRPr lang="en-US" sz="1058" dirty="0"/>
          </a:p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分层 txpool</a:t>
            </a:r>
            <a:endParaRPr lang="en-US" sz="1058" dirty="0"/>
          </a:p>
          <a:p>
            <a:pPr algn="l" indent="0" marL="0">
              <a:buNone/>
            </a:pPr>
            <a:endParaRPr lang="en-US" sz="1058" dirty="0"/>
          </a:p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状态缓存与索引</a:t>
            </a:r>
            <a:endParaRPr lang="en-US" sz="1058" dirty="0"/>
          </a:p>
          <a:p>
            <a:pPr algn="l" indent="0" marL="0">
              <a:buNone/>
            </a:pPr>
            <a:endParaRPr lang="en-US" sz="1058" dirty="0"/>
          </a:p>
          <a:p>
            <a:pPr algn="l" indent="0" marL="0">
              <a:buNone/>
            </a:pPr>
            <a:r>
              <a:rPr lang="en-US" sz="1058" dirty="0">
                <a:solidFill>
                  <a:srgbClr val="0F172A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稳定币费用</a:t>
            </a:r>
            <a:endParaRPr lang="en-US" sz="1058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9792" y="749808"/>
          <a:ext cx="4297680" cy="4251960"/>
        </p:xfrm>
        <a:graphic>
          <a:graphicData uri="http://schemas.openxmlformats.org/drawingml/2006/table">
            <a:tbl>
              <a:tblPr/>
              <a:tblGrid>
                <a:gridCol w="773582"/>
                <a:gridCol w="1160374"/>
                <a:gridCol w="1160374"/>
                <a:gridCol w="1203350"/>
              </a:tblGrid>
              <a:tr h="8869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1E3A8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维度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1E3A8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自建链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1E3A8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Tempo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1E3A8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Arc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TPS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单链 30K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20K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3K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节点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4地域20个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10+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10+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出块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500ms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500ms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500ms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成本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&lt;0.002 cents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0.1 cents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1 cent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79792" y="5138928"/>
            <a:ext cx="2194560" cy="1143000"/>
          </a:xfrm>
          <a:prstGeom prst="roundRect">
            <a:avLst>
              <a:gd name="adj" fmla="val 7040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9644" y="5210251"/>
            <a:ext cx="1994855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落地要求</a:t>
            </a:r>
            <a:endParaRPr lang="en-US" sz="1012" dirty="0"/>
          </a:p>
        </p:txBody>
      </p:sp>
      <p:sp>
        <p:nvSpPr>
          <p:cNvPr id="9" name="Text 6"/>
          <p:cNvSpPr/>
          <p:nvPr/>
        </p:nvSpPr>
        <p:spPr>
          <a:xfrm>
            <a:off x="7579644" y="5441594"/>
            <a:ext cx="1994855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2" dirty="0">
                <a:solidFill>
                  <a:srgbClr val="64748B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表格必须原生</a:t>
            </a:r>
            <a:pPr algn="l" indent="0" marL="0">
              <a:buNone/>
            </a:pPr>
            <a:endParaRPr lang="en-US" sz="782" dirty="0"/>
          </a:p>
          <a:p>
            <a:pPr algn="l" indent="0" marL="0">
              <a:buNone/>
            </a:pPr>
            <a:r>
              <a:rPr lang="en-US" sz="782" dirty="0">
                <a:solidFill>
                  <a:srgbClr val="64748B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组件必须可编辑</a:t>
            </a:r>
            <a:endParaRPr lang="en-US" sz="782" dirty="0"/>
          </a:p>
          <a:p>
            <a:pPr algn="l" indent="0" marL="0">
              <a:buNone/>
            </a:pPr>
            <a:endParaRPr lang="en-US" sz="782" dirty="0"/>
          </a:p>
          <a:p>
            <a:pPr algn="l" indent="0" marL="0">
              <a:buNone/>
            </a:pPr>
            <a:r>
              <a:rPr lang="en-US" sz="782" dirty="0">
                <a:solidFill>
                  <a:srgbClr val="64748B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超过容量自动降级</a:t>
            </a:r>
            <a:endParaRPr lang="en-US" sz="782" dirty="0"/>
          </a:p>
          <a:p>
            <a:pPr algn="l" indent="0" marL="0">
              <a:buNone/>
            </a:pPr>
            <a:endParaRPr lang="en-US" sz="782" dirty="0"/>
          </a:p>
          <a:p>
            <a:pPr algn="l" indent="0" marL="0">
              <a:buNone/>
            </a:pPr>
            <a:r>
              <a:rPr lang="en-US" sz="782" dirty="0">
                <a:solidFill>
                  <a:srgbClr val="64748B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不允许整页图片化</a:t>
            </a:r>
            <a:endParaRPr lang="en-US" sz="78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2026-05-09T16:26:55Z</dcterms:created>
  <dcterms:modified xsi:type="dcterms:W3CDTF">2026-05-09T16:26:55Z</dcterms:modified>
</cp:coreProperties>
</file>