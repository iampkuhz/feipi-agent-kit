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371600"/>
            <a:ext cx="2157984" cy="1920240"/>
          </a:xfrm>
          <a:prstGeom prst="roundRect">
            <a:avLst>
              <a:gd name="adj" fmla="val 4571"/>
            </a:avLst>
          </a:prstGeom>
          <a:solidFill>
            <a:srgbClr val="DCFCE7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4200" y="1442923"/>
            <a:ext cx="1972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66534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阶段一  T+3M</a:t>
            </a:r>
            <a:endParaRPr lang="en-US" sz="920" dirty="0"/>
          </a:p>
        </p:txBody>
      </p:sp>
      <p:sp>
        <p:nvSpPr>
          <p:cNvPr id="4" name="Text 2"/>
          <p:cNvSpPr/>
          <p:nvPr/>
        </p:nvSpPr>
        <p:spPr>
          <a:xfrm>
            <a:off x="504200" y="1671523"/>
            <a:ext cx="197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4" b="1" dirty="0">
                <a:solidFill>
                  <a:srgbClr val="166534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内部测试网</a:t>
            </a:r>
            <a:endParaRPr lang="en-US" sz="1104" dirty="0"/>
          </a:p>
        </p:txBody>
      </p:sp>
      <p:sp>
        <p:nvSpPr>
          <p:cNvPr id="5" name="Text 3"/>
          <p:cNvSpPr/>
          <p:nvPr/>
        </p:nvSpPr>
        <p:spPr>
          <a:xfrm>
            <a:off x="504200" y="1945843"/>
            <a:ext cx="197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2" b="1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5K TPS</a:t>
            </a:r>
            <a:endParaRPr lang="en-US" sz="1472" dirty="0"/>
          </a:p>
        </p:txBody>
      </p:sp>
      <p:sp>
        <p:nvSpPr>
          <p:cNvPr id="6" name="Text 4"/>
          <p:cNvSpPr/>
          <p:nvPr/>
        </p:nvSpPr>
        <p:spPr>
          <a:xfrm>
            <a:off x="504200" y="2265883"/>
            <a:ext cx="1972544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Simplex 共识接入</a:t>
            </a:r>
            <a:pPr algn="l" indent="0" marL="0">
              <a:buNone/>
            </a:pPr>
            <a:endParaRPr lang="en-US" sz="754" dirty="0"/>
          </a:p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Reth Engine API</a:t>
            </a:r>
            <a:endParaRPr lang="en-US" sz="754" dirty="0"/>
          </a:p>
          <a:p>
            <a:pPr algn="l" indent="0" marL="0">
              <a:buNone/>
            </a:pPr>
            <a:endParaRPr lang="en-US" sz="754" dirty="0"/>
          </a:p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500ms 出块</a:t>
            </a:r>
            <a:endParaRPr lang="en-US" sz="754" dirty="0"/>
          </a:p>
          <a:p>
            <a:pPr algn="l" indent="0" marL="0">
              <a:buNone/>
            </a:pPr>
            <a:endParaRPr lang="en-US" sz="754" dirty="0"/>
          </a:p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基础监控与部署</a:t>
            </a:r>
            <a:endParaRPr lang="en-US" sz="754" dirty="0"/>
          </a:p>
        </p:txBody>
      </p:sp>
      <p:sp>
        <p:nvSpPr>
          <p:cNvPr id="7" name="Shape 5"/>
          <p:cNvSpPr/>
          <p:nvPr/>
        </p:nvSpPr>
        <p:spPr>
          <a:xfrm>
            <a:off x="2697480" y="1371600"/>
            <a:ext cx="2157984" cy="1920240"/>
          </a:xfrm>
          <a:prstGeom prst="roundRect">
            <a:avLst>
              <a:gd name="adj" fmla="val 4571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90200" y="1442923"/>
            <a:ext cx="1972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2400E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阶段二  T+6M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790200" y="1671523"/>
            <a:ext cx="197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4" b="1" dirty="0">
                <a:solidFill>
                  <a:srgbClr val="92400E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外部测试网</a:t>
            </a:r>
            <a:endParaRPr lang="en-US" sz="1104" dirty="0"/>
          </a:p>
        </p:txBody>
      </p:sp>
      <p:sp>
        <p:nvSpPr>
          <p:cNvPr id="10" name="Text 8"/>
          <p:cNvSpPr/>
          <p:nvPr/>
        </p:nvSpPr>
        <p:spPr>
          <a:xfrm>
            <a:off x="2790200" y="1945843"/>
            <a:ext cx="197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2" b="1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5K 稳定</a:t>
            </a:r>
            <a:endParaRPr lang="en-US" sz="1472" dirty="0"/>
          </a:p>
        </p:txBody>
      </p:sp>
      <p:sp>
        <p:nvSpPr>
          <p:cNvPr id="11" name="Text 9"/>
          <p:cNvSpPr/>
          <p:nvPr/>
        </p:nvSpPr>
        <p:spPr>
          <a:xfrm>
            <a:off x="2790200" y="2265883"/>
            <a:ext cx="1972544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SDK 与开发文档</a:t>
            </a:r>
            <a:pPr algn="l" indent="0" marL="0">
              <a:buNone/>
            </a:pPr>
            <a:endParaRPr lang="en-US" sz="754" dirty="0"/>
          </a:p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Faucet / Explorer</a:t>
            </a:r>
            <a:endParaRPr lang="en-US" sz="754" dirty="0"/>
          </a:p>
          <a:p>
            <a:pPr algn="l" indent="0" marL="0">
              <a:buNone/>
            </a:pPr>
            <a:endParaRPr lang="en-US" sz="754" dirty="0"/>
          </a:p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公共 RPC</a:t>
            </a:r>
            <a:endParaRPr lang="en-US" sz="754" dirty="0"/>
          </a:p>
          <a:p>
            <a:pPr algn="l" indent="0" marL="0">
              <a:buNone/>
            </a:pPr>
            <a:endParaRPr lang="en-US" sz="754" dirty="0"/>
          </a:p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开发者反馈闭环</a:t>
            </a:r>
            <a:endParaRPr lang="en-US" sz="754" dirty="0"/>
          </a:p>
        </p:txBody>
      </p:sp>
      <p:sp>
        <p:nvSpPr>
          <p:cNvPr id="12" name="Shape 10"/>
          <p:cNvSpPr/>
          <p:nvPr/>
        </p:nvSpPr>
        <p:spPr>
          <a:xfrm>
            <a:off x="4983480" y="1371600"/>
            <a:ext cx="2157984" cy="1920240"/>
          </a:xfrm>
          <a:prstGeom prst="roundRect">
            <a:avLst>
              <a:gd name="adj" fmla="val 4571"/>
            </a:avLst>
          </a:prstGeom>
          <a:solidFill>
            <a:srgbClr val="E0F2FE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6200" y="1442923"/>
            <a:ext cx="1972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7598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阶段三  T+12M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076200" y="1671523"/>
            <a:ext cx="197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4" b="1" dirty="0">
                <a:solidFill>
                  <a:srgbClr val="07598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生产主网</a:t>
            </a:r>
            <a:endParaRPr lang="en-US" sz="1104" dirty="0"/>
          </a:p>
        </p:txBody>
      </p:sp>
      <p:sp>
        <p:nvSpPr>
          <p:cNvPr id="15" name="Text 13"/>
          <p:cNvSpPr/>
          <p:nvPr/>
        </p:nvSpPr>
        <p:spPr>
          <a:xfrm>
            <a:off x="5076200" y="1945843"/>
            <a:ext cx="197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2" b="1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10K TPS</a:t>
            </a:r>
            <a:endParaRPr lang="en-US" sz="1472" dirty="0"/>
          </a:p>
        </p:txBody>
      </p:sp>
      <p:sp>
        <p:nvSpPr>
          <p:cNvPr id="16" name="Text 14"/>
          <p:cNvSpPr/>
          <p:nvPr/>
        </p:nvSpPr>
        <p:spPr>
          <a:xfrm>
            <a:off x="5076200" y="2265883"/>
            <a:ext cx="1972544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参数冻结</a:t>
            </a:r>
            <a:pPr algn="l" indent="0" marL="0">
              <a:buNone/>
            </a:pPr>
            <a:endParaRPr lang="en-US" sz="754" dirty="0"/>
          </a:p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主网发布 SOP</a:t>
            </a:r>
            <a:endParaRPr lang="en-US" sz="754" dirty="0"/>
          </a:p>
          <a:p>
            <a:pPr algn="l" indent="0" marL="0">
              <a:buNone/>
            </a:pPr>
            <a:endParaRPr lang="en-US" sz="754" dirty="0"/>
          </a:p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索引与钱包接入</a:t>
            </a:r>
            <a:endParaRPr lang="en-US" sz="754" dirty="0"/>
          </a:p>
          <a:p>
            <a:pPr algn="l" indent="0" marL="0">
              <a:buNone/>
            </a:pPr>
            <a:endParaRPr lang="en-US" sz="754" dirty="0"/>
          </a:p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升级与回滚演练</a:t>
            </a:r>
            <a:endParaRPr lang="en-US" sz="754" dirty="0"/>
          </a:p>
        </p:txBody>
      </p:sp>
      <p:sp>
        <p:nvSpPr>
          <p:cNvPr id="17" name="Shape 15"/>
          <p:cNvSpPr/>
          <p:nvPr/>
        </p:nvSpPr>
        <p:spPr>
          <a:xfrm>
            <a:off x="7269480" y="1371600"/>
            <a:ext cx="2157984" cy="1920240"/>
          </a:xfrm>
          <a:prstGeom prst="roundRect">
            <a:avLst>
              <a:gd name="adj" fmla="val 4571"/>
            </a:avLst>
          </a:prstGeom>
          <a:solidFill>
            <a:srgbClr val="E0F2FE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2200" y="1442923"/>
            <a:ext cx="1972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7598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阶段四  T+18M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7362200" y="1671523"/>
            <a:ext cx="197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4" b="1" dirty="0">
                <a:solidFill>
                  <a:srgbClr val="07598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多子网生产</a:t>
            </a:r>
            <a:endParaRPr lang="en-US" sz="1104" dirty="0"/>
          </a:p>
        </p:txBody>
      </p:sp>
      <p:sp>
        <p:nvSpPr>
          <p:cNvPr id="20" name="Text 18"/>
          <p:cNvSpPr/>
          <p:nvPr/>
        </p:nvSpPr>
        <p:spPr>
          <a:xfrm>
            <a:off x="7362200" y="1945843"/>
            <a:ext cx="197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2" b="1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N×10K</a:t>
            </a:r>
            <a:endParaRPr lang="en-US" sz="1472" dirty="0"/>
          </a:p>
        </p:txBody>
      </p:sp>
      <p:sp>
        <p:nvSpPr>
          <p:cNvPr id="21" name="Text 19"/>
          <p:cNvSpPr/>
          <p:nvPr/>
        </p:nvSpPr>
        <p:spPr>
          <a:xfrm>
            <a:off x="7362200" y="2265883"/>
            <a:ext cx="1972544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子网生命周期</a:t>
            </a:r>
            <a:pPr algn="l" indent="0" marL="0">
              <a:buNone/>
            </a:pPr>
            <a:endParaRPr lang="en-US" sz="754" dirty="0"/>
          </a:p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跨子网消息</a:t>
            </a:r>
            <a:endParaRPr lang="en-US" sz="754" dirty="0"/>
          </a:p>
          <a:p>
            <a:pPr algn="l" indent="0" marL="0">
              <a:buNone/>
            </a:pPr>
            <a:endParaRPr lang="en-US" sz="754" dirty="0"/>
          </a:p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统一索引</a:t>
            </a:r>
            <a:endParaRPr lang="en-US" sz="754" dirty="0"/>
          </a:p>
          <a:p>
            <a:pPr algn="l" indent="0" marL="0">
              <a:buNone/>
            </a:pPr>
            <a:endParaRPr lang="en-US" sz="754" dirty="0"/>
          </a:p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规模化运维</a:t>
            </a:r>
            <a:endParaRPr lang="en-US" sz="754" dirty="0"/>
          </a:p>
        </p:txBody>
      </p:sp>
      <p:sp>
        <p:nvSpPr>
          <p:cNvPr id="22" name="Shape 20"/>
          <p:cNvSpPr/>
          <p:nvPr/>
        </p:nvSpPr>
        <p:spPr>
          <a:xfrm>
            <a:off x="9555480" y="1371600"/>
            <a:ext cx="2157984" cy="1920240"/>
          </a:xfrm>
          <a:prstGeom prst="roundRect">
            <a:avLst>
              <a:gd name="adj" fmla="val 4571"/>
            </a:avLst>
          </a:prstGeom>
          <a:solidFill>
            <a:srgbClr val="E0F2FE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48200" y="1442923"/>
            <a:ext cx="1972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7598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阶段五  T+24M+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648200" y="1671523"/>
            <a:ext cx="197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4" b="1" dirty="0">
                <a:solidFill>
                  <a:srgbClr val="07598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后量子阶段</a:t>
            </a:r>
            <a:endParaRPr lang="en-US" sz="1104" dirty="0"/>
          </a:p>
        </p:txBody>
      </p:sp>
      <p:sp>
        <p:nvSpPr>
          <p:cNvPr id="25" name="Text 23"/>
          <p:cNvSpPr/>
          <p:nvPr/>
        </p:nvSpPr>
        <p:spPr>
          <a:xfrm>
            <a:off x="9648200" y="1945843"/>
            <a:ext cx="197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2" b="1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长期可信</a:t>
            </a:r>
            <a:endParaRPr lang="en-US" sz="1472" dirty="0"/>
          </a:p>
        </p:txBody>
      </p:sp>
      <p:sp>
        <p:nvSpPr>
          <p:cNvPr id="26" name="Text 24"/>
          <p:cNvSpPr/>
          <p:nvPr/>
        </p:nvSpPr>
        <p:spPr>
          <a:xfrm>
            <a:off x="9648200" y="2265883"/>
            <a:ext cx="1972544" cy="954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PQC 签名支持</a:t>
            </a:r>
            <a:pPr algn="l" indent="0" marL="0">
              <a:buNone/>
            </a:pPr>
            <a:endParaRPr lang="en-US" sz="754" dirty="0"/>
          </a:p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AA / Wallet 兼容</a:t>
            </a:r>
            <a:endParaRPr lang="en-US" sz="754" dirty="0"/>
          </a:p>
          <a:p>
            <a:pPr algn="l" indent="0" marL="0">
              <a:buNone/>
            </a:pPr>
            <a:endParaRPr lang="en-US" sz="754" dirty="0"/>
          </a:p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成本测量</a:t>
            </a:r>
            <a:endParaRPr lang="en-US" sz="754" dirty="0"/>
          </a:p>
          <a:p>
            <a:pPr algn="l" indent="0" marL="0">
              <a:buNone/>
            </a:pPr>
            <a:endParaRPr lang="en-US" sz="754" dirty="0"/>
          </a:p>
          <a:p>
            <a:pPr algn="l" indent="0" marL="0">
              <a:buNone/>
            </a:pPr>
            <a:r>
              <a:rPr lang="en-US" sz="754" dirty="0">
                <a:solidFill>
                  <a:srgbClr val="334155"/>
                </a:solidFill>
                <a:latin typeface="Kaiti SC" pitchFamily="34" charset="0"/>
                <a:ea typeface="Kaiti SC" pitchFamily="34" charset="-122"/>
                <a:cs typeface="Kaiti SC" pitchFamily="34" charset="-120"/>
              </a:rPr>
              <a:t>  •  SDK 适配</a:t>
            </a:r>
            <a:endParaRPr lang="en-US" sz="754" dirty="0"/>
          </a:p>
        </p:txBody>
      </p:sp>
      <p:sp>
        <p:nvSpPr>
          <p:cNvPr id="27" name="Shape 25"/>
          <p:cNvSpPr/>
          <p:nvPr/>
        </p:nvSpPr>
        <p:spPr>
          <a:xfrm>
            <a:off x="2569464" y="2331720"/>
            <a:ext cx="12801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55464" y="2331720"/>
            <a:ext cx="12801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41464" y="2331720"/>
            <a:ext cx="12801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27464" y="2331720"/>
            <a:ext cx="128016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611880"/>
          <a:ext cx="11384280" cy="2468880"/>
        </p:xfrm>
        <a:graphic>
          <a:graphicData uri="http://schemas.openxmlformats.org/drawingml/2006/table">
            <a:tbl>
              <a:tblPr/>
              <a:tblGrid>
                <a:gridCol w="2276856"/>
                <a:gridCol w="2276856"/>
                <a:gridCol w="2276856"/>
                <a:gridCol w="2276856"/>
                <a:gridCol w="2276856"/>
              </a:tblGrid>
              <a:tr h="6515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4" b="1" dirty="0">
                          <a:solidFill>
                            <a:srgbClr val="0F172A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内部测试网</a:t>
                      </a:r>
                      <a:endParaRPr lang="en-US" sz="87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4" b="1" dirty="0">
                          <a:solidFill>
                            <a:srgbClr val="0F172A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外部测试网</a:t>
                      </a:r>
                      <a:endParaRPr lang="en-US" sz="87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4" b="1" dirty="0">
                          <a:solidFill>
                            <a:srgbClr val="0F172A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生产主网</a:t>
                      </a:r>
                      <a:endParaRPr lang="en-US" sz="87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4" b="1" dirty="0">
                          <a:solidFill>
                            <a:srgbClr val="0F172A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多子网生产</a:t>
                      </a:r>
                      <a:endParaRPr lang="en-US" sz="87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74" b="1" dirty="0">
                          <a:solidFill>
                            <a:srgbClr val="0F172A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后量子阶段</a:t>
                      </a:r>
                      <a:endParaRPr lang="en-US" sz="87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6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4" b="1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5K 压测报告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5K 长稳测试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10K 验收报告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N×10K 容量治理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PQC 成本评估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4" b="1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部署脚本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开发者文档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发布 SOP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跨子网路由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钱包兼容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4" b="1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基础监控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公共 RPC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回滚演练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统一索引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4" dirty="0">
                          <a:solidFill>
                            <a:srgbClr val="334155"/>
                          </a:solidFill>
                          <a:latin typeface="Kaiti SC" pitchFamily="34" charset="0"/>
                          <a:ea typeface="Kaiti SC" pitchFamily="34" charset="-122"/>
                          <a:cs typeface="Kaiti SC" pitchFamily="34" charset="-120"/>
                        </a:rPr>
                        <a:t>长期信任</a:t>
                      </a:r>
                      <a:endParaRPr lang="en-US" sz="754" dirty="0">
                        <a:latin typeface="Kaiti SC" charset="0"/>
                        <a:ea typeface="Kaiti SC" charset="0"/>
                        <a:cs typeface="Kaiti SC" charset="0"/>
                      </a:endParaRPr>
                    </a:p>
                  </a:txBody>
                  <a:tcPr marL="35662" marR="35662" marT="24963" marB="24963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2026-05-09T16:26:51Z</dcterms:created>
  <dcterms:modified xsi:type="dcterms:W3CDTF">2026-05-09T16:26:51Z</dcterms:modified>
</cp:coreProperties>
</file>